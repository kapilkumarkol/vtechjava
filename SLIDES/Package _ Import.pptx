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75" r:id="rId3"/>
    <p:sldId id="362" r:id="rId4"/>
    <p:sldId id="276" r:id="rId5"/>
    <p:sldId id="376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02301-B745-4C90-91EB-90FE8EF339AC}" type="datetimeFigureOut">
              <a:rPr lang="en-IN" smtClean="0"/>
              <a:t>30-01-2019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A92608-0752-4199-A0E5-6D437EEDD6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689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6">
            <a:extLst>
              <a:ext uri="{FF2B5EF4-FFF2-40B4-BE49-F238E27FC236}">
                <a16:creationId xmlns:a16="http://schemas.microsoft.com/office/drawing/2014/main" id="{6E85AE94-ACBD-46A1-82BF-9997D1474CC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fld id="{6D249EF8-ABA2-430D-85FC-EFCB9C21DE49}" type="slidenum">
              <a:rPr lang="en-US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3" name="Rectangle 1">
            <a:extLst>
              <a:ext uri="{FF2B5EF4-FFF2-40B4-BE49-F238E27FC236}">
                <a16:creationId xmlns:a16="http://schemas.microsoft.com/office/drawing/2014/main" id="{51A88894-F17F-459C-8DE6-05252FF453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6324" name="Rectangle 2">
            <a:extLst>
              <a:ext uri="{FF2B5EF4-FFF2-40B4-BE49-F238E27FC236}">
                <a16:creationId xmlns:a16="http://schemas.microsoft.com/office/drawing/2014/main" id="{D45D9FF2-AE7D-48E3-8119-727D6B4132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6">
            <a:extLst>
              <a:ext uri="{FF2B5EF4-FFF2-40B4-BE49-F238E27FC236}">
                <a16:creationId xmlns:a16="http://schemas.microsoft.com/office/drawing/2014/main" id="{F865ED37-1541-47F9-99D6-DA0DDBB38BF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fld id="{29D315FD-6D32-40CB-93F9-7DBF9878C220}" type="slidenum">
              <a:rPr lang="en-US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395" name="Rectangle 1">
            <a:extLst>
              <a:ext uri="{FF2B5EF4-FFF2-40B4-BE49-F238E27FC236}">
                <a16:creationId xmlns:a16="http://schemas.microsoft.com/office/drawing/2014/main" id="{35DBC1B3-1CEF-49B5-B18E-2D716C81B2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9396" name="Rectangle 2">
            <a:extLst>
              <a:ext uri="{FF2B5EF4-FFF2-40B4-BE49-F238E27FC236}">
                <a16:creationId xmlns:a16="http://schemas.microsoft.com/office/drawing/2014/main" id="{1EF0B2A9-8405-4C9C-AB70-9D72BAC4C6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6">
            <a:extLst>
              <a:ext uri="{FF2B5EF4-FFF2-40B4-BE49-F238E27FC236}">
                <a16:creationId xmlns:a16="http://schemas.microsoft.com/office/drawing/2014/main" id="{41F9E4EF-3EFC-40F9-9202-76AF30C2973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fld id="{5C4A83E0-AED4-441B-9DBA-52B1C5CDCB74}" type="slidenum">
              <a:rPr lang="en-US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7" name="Rectangle 1">
            <a:extLst>
              <a:ext uri="{FF2B5EF4-FFF2-40B4-BE49-F238E27FC236}">
                <a16:creationId xmlns:a16="http://schemas.microsoft.com/office/drawing/2014/main" id="{0E566BCB-ABE3-4745-9CAF-030BC11AB9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2468" name="Rectangle 2">
            <a:extLst>
              <a:ext uri="{FF2B5EF4-FFF2-40B4-BE49-F238E27FC236}">
                <a16:creationId xmlns:a16="http://schemas.microsoft.com/office/drawing/2014/main" id="{F53DE0DF-B17B-46CC-B2B4-5016A4F538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6">
            <a:extLst>
              <a:ext uri="{FF2B5EF4-FFF2-40B4-BE49-F238E27FC236}">
                <a16:creationId xmlns:a16="http://schemas.microsoft.com/office/drawing/2014/main" id="{92A48D7E-2A79-4D83-9AB1-8F58B88AA66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fld id="{6D08EB1B-5086-49C4-A130-68DC8084F65C}" type="slidenum">
              <a:rPr lang="en-US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5" name="Rectangle 1">
            <a:extLst>
              <a:ext uri="{FF2B5EF4-FFF2-40B4-BE49-F238E27FC236}">
                <a16:creationId xmlns:a16="http://schemas.microsoft.com/office/drawing/2014/main" id="{94DF166A-E3B2-45B5-A583-0AD55C5357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4516" name="Rectangle 2">
            <a:extLst>
              <a:ext uri="{FF2B5EF4-FFF2-40B4-BE49-F238E27FC236}">
                <a16:creationId xmlns:a16="http://schemas.microsoft.com/office/drawing/2014/main" id="{EABDD064-70E6-4B9B-B9EA-657DC901A4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F3136-564F-4531-B457-D02F4E6AA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FEDA6-CB91-42BA-9FCF-F8D67457AE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441CF-6BD4-4787-9698-AE3302CDB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5089-47E6-4B14-A820-20CC143B7C0B}" type="datetimeFigureOut">
              <a:rPr lang="en-IN" smtClean="0"/>
              <a:t>30-01-2019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BADB8-8B22-472F-AB10-F2CC39997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76F07-F5C5-401F-A2C8-D158CB78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3F128-E700-40C6-B33D-DBCD22C59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350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42CE3-E9E3-4EDA-A78D-85A952CE4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8F18E-E5B8-45CB-9AC1-501274A82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850BC-F405-4232-AFDC-05D6E1546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5089-47E6-4B14-A820-20CC143B7C0B}" type="datetimeFigureOut">
              <a:rPr lang="en-IN" smtClean="0"/>
              <a:t>30-01-2019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8FFD2-812B-4A42-A3DA-98133F36D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5BE5B-F33E-4F44-A243-4F126760E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3F128-E700-40C6-B33D-DBCD22C59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002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1782E-D6C6-4018-8FDE-49FCF3ADF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EC24D-3C1F-4039-BD10-A767D0FCA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74D8C-0338-4ED6-8851-EE864A646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5089-47E6-4B14-A820-20CC143B7C0B}" type="datetimeFigureOut">
              <a:rPr lang="en-IN" smtClean="0"/>
              <a:t>30-01-2019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8F87A-3EF7-41B6-BDD5-5DEEF07E8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ACE6A-7770-44F5-B0F3-AF051B18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3F128-E700-40C6-B33D-DBCD22C59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608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107EF-BF95-4B21-9F58-664144DA0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E6C3F-F81E-4C5C-919B-5C0E36B1D8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76C256-C46B-4382-903F-62B7DD517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B154E-E3B4-4C9B-9C51-D02F764A4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5089-47E6-4B14-A820-20CC143B7C0B}" type="datetimeFigureOut">
              <a:rPr lang="en-IN" smtClean="0"/>
              <a:t>30-01-2019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E1EA4-C077-47FB-82A4-8746B2E0B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E62AC-4EA4-4F7C-BD18-4B0005E9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3F128-E700-40C6-B33D-DBCD22C59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747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6C37D-37C3-4D43-A8A6-08EA3FF9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000A6-B197-4539-8EA1-E2DB945BC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DAC166-8A3E-4317-83BB-5F42CE81F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DE30DC-30EC-4215-8EBC-F3C377FC67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4472AE-93C5-4047-84F5-D167559A20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272B52-F161-4AB5-AD46-EB912EE42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5089-47E6-4B14-A820-20CC143B7C0B}" type="datetimeFigureOut">
              <a:rPr lang="en-IN" smtClean="0"/>
              <a:t>30-01-2019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B4B59F-BF11-4996-B01B-9B8CBCB46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72DEFE-486A-46EA-875F-1AC763C9F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3F128-E700-40C6-B33D-DBCD22C59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496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0D67F-0E0C-4874-BAD5-3CC849195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9A0980-6416-4ADD-85CD-5EEF3CBCA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5089-47E6-4B14-A820-20CC143B7C0B}" type="datetimeFigureOut">
              <a:rPr lang="en-IN" smtClean="0"/>
              <a:t>30-01-2019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76FCEF-0AA1-4C7E-B224-1C75B8443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EB2677-53EE-4447-9F70-24BEF60A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3F128-E700-40C6-B33D-DBCD22C59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260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3DB875-20CA-490B-AFBE-F77A113C5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5089-47E6-4B14-A820-20CC143B7C0B}" type="datetimeFigureOut">
              <a:rPr lang="en-IN" smtClean="0"/>
              <a:t>30-01-2019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8891AE-EFB0-4A89-8C46-13986E1C3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F7E29-1F62-46D2-A839-47D5A3607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3F128-E700-40C6-B33D-DBCD22C59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370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52E22-E2C7-45FD-BB7C-30D62FA1C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25ACC-2937-4E8C-A4FE-8374594B0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993BC-E1B5-4593-B7A8-24461B681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8DDDE-67DC-4F95-89E6-778EFBC77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5089-47E6-4B14-A820-20CC143B7C0B}" type="datetimeFigureOut">
              <a:rPr lang="en-IN" smtClean="0"/>
              <a:t>30-01-2019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33AC70-F7A5-4DF4-B22C-AF25D2920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F91F4-2B89-4BB7-A3DC-DA1F3F7D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3F128-E700-40C6-B33D-DBCD22C59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76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FD5DF-E0B0-464B-8512-50EFE3DC6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E7BE04-E78F-4961-87A6-6A970C5105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E4D1E-E9E4-43AC-9556-5B49A7276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73017-05B2-429E-ABC9-AAC0300AC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5089-47E6-4B14-A820-20CC143B7C0B}" type="datetimeFigureOut">
              <a:rPr lang="en-IN" smtClean="0"/>
              <a:t>30-01-2019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7FE5D-F7EB-4E07-A113-D6CFB2B90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817A7-AA2B-483C-A5C2-FD097BB2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3F128-E700-40C6-B33D-DBCD22C59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478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D0E93-5DB4-4077-A93C-2A8D4FAB0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C60301-A821-4DBF-A82E-5D1EB8FB8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258A8-45C7-4D7C-9A92-6A307B271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5089-47E6-4B14-A820-20CC143B7C0B}" type="datetimeFigureOut">
              <a:rPr lang="en-IN" smtClean="0"/>
              <a:t>30-01-2019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6F442-128E-41F3-B29A-12F06B045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A7894-3869-4A41-9AAD-D7A0BA95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3F128-E700-40C6-B33D-DBCD22C59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554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71E47C-A053-43B2-BB5C-993E541EE1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74D1C9-1B19-466B-BA8F-97D2D4F9E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83DF0-E82C-4F10-A13D-C529566EE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5089-47E6-4B14-A820-20CC143B7C0B}" type="datetimeFigureOut">
              <a:rPr lang="en-IN" smtClean="0"/>
              <a:t>30-01-2019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63AEC-76C0-4755-9AA8-E56CC7257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53165-08B1-4250-B728-593B5E4A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3F128-E700-40C6-B33D-DBCD22C59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235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F832F2-73DD-4DEB-9AF3-E44B6CE20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D330B-5629-4017-AA83-BDC6D8D50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84223-2551-408A-87A4-3D3DBDF1C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55089-47E6-4B14-A820-20CC143B7C0B}" type="datetimeFigureOut">
              <a:rPr lang="en-IN" smtClean="0"/>
              <a:t>30-01-2019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10722-F161-4A95-A685-3D1B3AD7B3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83BE4-D517-4BA3-8389-585921195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3F128-E700-40C6-B33D-DBCD22C59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900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F67B2-86B8-4AFD-A8A0-1994FB8391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Package &amp; Import</a:t>
            </a:r>
          </a:p>
        </p:txBody>
      </p:sp>
    </p:spTree>
    <p:extLst>
      <p:ext uri="{BB962C8B-B14F-4D97-AF65-F5344CB8AC3E}">
        <p14:creationId xmlns:p14="http://schemas.microsoft.com/office/powerpoint/2010/main" val="262432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1">
            <a:extLst>
              <a:ext uri="{FF2B5EF4-FFF2-40B4-BE49-F238E27FC236}">
                <a16:creationId xmlns:a16="http://schemas.microsoft.com/office/drawing/2014/main" id="{6E64436C-C15C-414B-B5AC-F0CADCE1C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9928" y="1113432"/>
            <a:ext cx="8702833" cy="4487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46310" rIns="81646" bIns="40823" anchor="ctr" anchorCtr="1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8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Package: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361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359" dirty="0">
                <a:solidFill>
                  <a:srgbClr val="000000"/>
                </a:solidFill>
                <a:latin typeface="Bookman Old Style" panose="02050604050505020204" pitchFamily="18" charset="0"/>
              </a:rPr>
              <a:t>In Java, package is a mechanism which allows to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36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359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-</a:t>
            </a:r>
            <a:r>
              <a:rPr lang="de-DE" altLang="en-US" sz="2359" dirty="0">
                <a:solidFill>
                  <a:srgbClr val="000000"/>
                </a:solidFill>
                <a:latin typeface="Bookman Old Style" panose="02050604050505020204" pitchFamily="18" charset="0"/>
              </a:rPr>
              <a:t>  Arrange class files in a structured way,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359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-</a:t>
            </a:r>
            <a:r>
              <a:rPr lang="de-DE" altLang="en-US" sz="2359" dirty="0">
                <a:solidFill>
                  <a:srgbClr val="000000"/>
                </a:solidFill>
                <a:latin typeface="Bookman Old Style" panose="02050604050505020204" pitchFamily="18" charset="0"/>
              </a:rPr>
              <a:t>  Allows them to access each other in a unified way,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359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-</a:t>
            </a:r>
            <a:r>
              <a:rPr lang="de-DE" altLang="en-US" sz="2359" dirty="0">
                <a:solidFill>
                  <a:srgbClr val="000000"/>
                </a:solidFill>
                <a:latin typeface="Bookman Old Style" panose="02050604050505020204" pitchFamily="18" charset="0"/>
              </a:rPr>
              <a:t>  It also provides distinct name spaces to declare classes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359" dirty="0">
                <a:solidFill>
                  <a:srgbClr val="000000"/>
                </a:solidFill>
                <a:latin typeface="Bookman Old Style" panose="02050604050505020204" pitchFamily="18" charset="0"/>
              </a:rPr>
              <a:t>   with the same name.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36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359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To implement and use packages follow these steps:</a:t>
            </a:r>
            <a:r>
              <a:rPr lang="de-DE" altLang="en-US" sz="2359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136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359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Step 1:</a:t>
            </a:r>
            <a:r>
              <a:rPr lang="de-DE" altLang="en-US" sz="2359" dirty="0">
                <a:solidFill>
                  <a:srgbClr val="000000"/>
                </a:solidFill>
                <a:latin typeface="Bookman Old Style" panose="02050604050505020204" pitchFamily="18" charset="0"/>
              </a:rPr>
              <a:t> Create an application root directory.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359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Step 2:</a:t>
            </a:r>
            <a:r>
              <a:rPr lang="de-DE" altLang="en-US" sz="2359" dirty="0">
                <a:solidFill>
                  <a:srgbClr val="000000"/>
                </a:solidFill>
                <a:latin typeface="Bookman Old Style" panose="02050604050505020204" pitchFamily="18" charset="0"/>
              </a:rPr>
              <a:t> Keep all source and class files in subdirectories.</a:t>
            </a:r>
          </a:p>
          <a:p>
            <a:pPr>
              <a:lnSpc>
                <a:spcPct val="98000"/>
              </a:lnSpc>
              <a:buClr>
                <a:srgbClr val="000000"/>
              </a:buClr>
              <a:buSzPct val="100000"/>
            </a:pPr>
            <a:r>
              <a:rPr lang="de-DE" altLang="en-US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Step 3:</a:t>
            </a: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Insert package declaration in each source file.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2359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>
            <a:extLst>
              <a:ext uri="{FF2B5EF4-FFF2-40B4-BE49-F238E27FC236}">
                <a16:creationId xmlns:a16="http://schemas.microsoft.com/office/drawing/2014/main" id="{17D61FCF-CBD2-4E50-8546-52976F051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225" y="652445"/>
            <a:ext cx="10044853" cy="3650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1996" dirty="0">
                <a:solidFill>
                  <a:srgbClr val="000000"/>
                </a:solidFill>
                <a:latin typeface="Bookman Old Style" panose="02050604050505020204" pitchFamily="18" charset="0"/>
              </a:rPr>
              <a:t>	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Package declaration:</a:t>
            </a: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a)</a:t>
            </a: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Is a single line statement in a source file,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24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b)</a:t>
            </a: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Must be the first line of your source code and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24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c)</a:t>
            </a: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Is applicable to all the class definitions given in that source file.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   * Package declaration is file's path from the root folder: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1">
            <a:extLst>
              <a:ext uri="{FF2B5EF4-FFF2-40B4-BE49-F238E27FC236}">
                <a16:creationId xmlns:a16="http://schemas.microsoft.com/office/drawing/2014/main" id="{F64AF0CA-E39D-409C-B825-330442E04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8468" y="904862"/>
            <a:ext cx="9338112" cy="4648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46767" rIns="81646" bIns="40823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*  Package declaration starts with package keyword.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*  Package declaration neither includes root folder's name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  nor the source file's name where the declaration is being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  Inserted.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*  Package declaration includes file's parent folder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  hierarchy in top-down order and saperated by dot(.)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  operator and ends with a semicolon(;).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>
            <a:extLst>
              <a:ext uri="{FF2B5EF4-FFF2-40B4-BE49-F238E27FC236}">
                <a16:creationId xmlns:a16="http://schemas.microsoft.com/office/drawing/2014/main" id="{36984960-7C54-4F50-8843-38AA93E74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991" y="1198652"/>
            <a:ext cx="9515061" cy="4073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Import:</a:t>
            </a: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*  There can be 0 or more import statements in a source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  file.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*  Import statements must appear after the package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  statement and before any class definitions.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*  Import statements declared in a source file are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  applicable to all the class definitions given in that source 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  file.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AutoShape 1">
            <a:extLst>
              <a:ext uri="{FF2B5EF4-FFF2-40B4-BE49-F238E27FC236}">
                <a16:creationId xmlns:a16="http://schemas.microsoft.com/office/drawing/2014/main" id="{992A35FE-2021-42DB-8D7F-0FD9BA9F6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258" y="1627372"/>
            <a:ext cx="816566" cy="32691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633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6BD635E6-50A7-4DEB-BB4E-7FAF0153E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6349" y="1548164"/>
            <a:ext cx="240505" cy="83529"/>
          </a:xfrm>
          <a:prstGeom prst="rect">
            <a:avLst/>
          </a:prstGeom>
          <a:solidFill>
            <a:srgbClr val="FFFF99"/>
          </a:solidFill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633"/>
          </a:p>
        </p:txBody>
      </p:sp>
      <p:sp>
        <p:nvSpPr>
          <p:cNvPr id="61444" name="AutoShape 3">
            <a:extLst>
              <a:ext uri="{FF2B5EF4-FFF2-40B4-BE49-F238E27FC236}">
                <a16:creationId xmlns:a16="http://schemas.microsoft.com/office/drawing/2014/main" id="{58C79FA4-4CA8-4ABC-9D28-6FF6F122E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870" y="2606674"/>
            <a:ext cx="816565" cy="32691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633"/>
          </a:p>
        </p:txBody>
      </p:sp>
      <p:sp>
        <p:nvSpPr>
          <p:cNvPr id="61445" name="Rectangle 4">
            <a:extLst>
              <a:ext uri="{FF2B5EF4-FFF2-40B4-BE49-F238E27FC236}">
                <a16:creationId xmlns:a16="http://schemas.microsoft.com/office/drawing/2014/main" id="{05C1113E-08DC-4E81-B0D3-A12E4D399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2521" y="2508744"/>
            <a:ext cx="240505" cy="83529"/>
          </a:xfrm>
          <a:prstGeom prst="rect">
            <a:avLst/>
          </a:prstGeom>
          <a:solidFill>
            <a:srgbClr val="FFFF99"/>
          </a:solidFill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633"/>
          </a:p>
        </p:txBody>
      </p:sp>
      <p:sp>
        <p:nvSpPr>
          <p:cNvPr id="61446" name="AutoShape 5">
            <a:extLst>
              <a:ext uri="{FF2B5EF4-FFF2-40B4-BE49-F238E27FC236}">
                <a16:creationId xmlns:a16="http://schemas.microsoft.com/office/drawing/2014/main" id="{5F457B88-1805-4622-A000-46D8B30FB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9087" y="2606674"/>
            <a:ext cx="816566" cy="32691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633"/>
          </a:p>
        </p:txBody>
      </p:sp>
      <p:sp>
        <p:nvSpPr>
          <p:cNvPr id="61447" name="Rectangle 6">
            <a:extLst>
              <a:ext uri="{FF2B5EF4-FFF2-40B4-BE49-F238E27FC236}">
                <a16:creationId xmlns:a16="http://schemas.microsoft.com/office/drawing/2014/main" id="{C4F9060C-B3BB-4987-AB26-7F972DDAB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8738" y="2508744"/>
            <a:ext cx="240506" cy="83529"/>
          </a:xfrm>
          <a:prstGeom prst="rect">
            <a:avLst/>
          </a:prstGeom>
          <a:solidFill>
            <a:srgbClr val="FFFF99"/>
          </a:solidFill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633"/>
          </a:p>
        </p:txBody>
      </p:sp>
      <p:sp>
        <p:nvSpPr>
          <p:cNvPr id="61448" name="AutoShape 7">
            <a:extLst>
              <a:ext uri="{FF2B5EF4-FFF2-40B4-BE49-F238E27FC236}">
                <a16:creationId xmlns:a16="http://schemas.microsoft.com/office/drawing/2014/main" id="{F85A0AB4-F6C2-4FA5-B7F3-2B5B8A7EA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8389" y="3423240"/>
            <a:ext cx="816566" cy="326914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633"/>
          </a:p>
        </p:txBody>
      </p:sp>
      <p:sp>
        <p:nvSpPr>
          <p:cNvPr id="61449" name="Rectangle 8">
            <a:extLst>
              <a:ext uri="{FF2B5EF4-FFF2-40B4-BE49-F238E27FC236}">
                <a16:creationId xmlns:a16="http://schemas.microsoft.com/office/drawing/2014/main" id="{8C78C002-B675-4B53-B33F-5E0301634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481" y="3325310"/>
            <a:ext cx="240505" cy="83529"/>
          </a:xfrm>
          <a:prstGeom prst="rect">
            <a:avLst/>
          </a:prstGeom>
          <a:solidFill>
            <a:srgbClr val="FFFF99"/>
          </a:solidFill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633"/>
          </a:p>
        </p:txBody>
      </p:sp>
      <p:sp>
        <p:nvSpPr>
          <p:cNvPr id="61450" name="AutoShape 9">
            <a:extLst>
              <a:ext uri="{FF2B5EF4-FFF2-40B4-BE49-F238E27FC236}">
                <a16:creationId xmlns:a16="http://schemas.microsoft.com/office/drawing/2014/main" id="{2745AEDD-AD73-482A-B1F6-2F623B76B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9133" y="4403983"/>
            <a:ext cx="816565" cy="32691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633"/>
          </a:p>
        </p:txBody>
      </p:sp>
      <p:sp>
        <p:nvSpPr>
          <p:cNvPr id="61451" name="Rectangle 10">
            <a:extLst>
              <a:ext uri="{FF2B5EF4-FFF2-40B4-BE49-F238E27FC236}">
                <a16:creationId xmlns:a16="http://schemas.microsoft.com/office/drawing/2014/main" id="{A9D590DD-8A9E-469F-BD4E-91DC9DF6B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8784" y="4306053"/>
            <a:ext cx="240505" cy="83529"/>
          </a:xfrm>
          <a:prstGeom prst="rect">
            <a:avLst/>
          </a:prstGeom>
          <a:solidFill>
            <a:srgbClr val="FFFF99"/>
          </a:solidFill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633"/>
          </a:p>
        </p:txBody>
      </p:sp>
      <p:sp>
        <p:nvSpPr>
          <p:cNvPr id="61452" name="Line 11">
            <a:extLst>
              <a:ext uri="{FF2B5EF4-FFF2-40B4-BE49-F238E27FC236}">
                <a16:creationId xmlns:a16="http://schemas.microsoft.com/office/drawing/2014/main" id="{172D4577-0F68-4799-AC7D-4D61849201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86903" y="1954286"/>
            <a:ext cx="656709" cy="653829"/>
          </a:xfrm>
          <a:prstGeom prst="line">
            <a:avLst/>
          </a:prstGeom>
          <a:noFill/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633"/>
          </a:p>
        </p:txBody>
      </p:sp>
      <p:sp>
        <p:nvSpPr>
          <p:cNvPr id="61453" name="Line 12">
            <a:extLst>
              <a:ext uri="{FF2B5EF4-FFF2-40B4-BE49-F238E27FC236}">
                <a16:creationId xmlns:a16="http://schemas.microsoft.com/office/drawing/2014/main" id="{743AB129-6759-42E5-BBAE-8D0DD5148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2173" y="1954286"/>
            <a:ext cx="653829" cy="653829"/>
          </a:xfrm>
          <a:prstGeom prst="line">
            <a:avLst/>
          </a:prstGeom>
          <a:noFill/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633"/>
          </a:p>
        </p:txBody>
      </p:sp>
      <p:sp>
        <p:nvSpPr>
          <p:cNvPr id="61454" name="Line 13">
            <a:extLst>
              <a:ext uri="{FF2B5EF4-FFF2-40B4-BE49-F238E27FC236}">
                <a16:creationId xmlns:a16="http://schemas.microsoft.com/office/drawing/2014/main" id="{6E5F2D20-6F44-4558-96F9-9AC4CD9DF3C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2915" y="2933589"/>
            <a:ext cx="489651" cy="489651"/>
          </a:xfrm>
          <a:prstGeom prst="line">
            <a:avLst/>
          </a:prstGeom>
          <a:noFill/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633"/>
          </a:p>
        </p:txBody>
      </p:sp>
      <p:sp>
        <p:nvSpPr>
          <p:cNvPr id="61455" name="Line 14">
            <a:extLst>
              <a:ext uri="{FF2B5EF4-FFF2-40B4-BE49-F238E27FC236}">
                <a16:creationId xmlns:a16="http://schemas.microsoft.com/office/drawing/2014/main" id="{DFA080CE-583E-4CC0-8AC0-58F89D8CF792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1164" y="3750154"/>
            <a:ext cx="620705" cy="653829"/>
          </a:xfrm>
          <a:prstGeom prst="line">
            <a:avLst/>
          </a:prstGeom>
          <a:noFill/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633"/>
          </a:p>
        </p:txBody>
      </p:sp>
      <p:sp>
        <p:nvSpPr>
          <p:cNvPr id="61456" name="Rectangle 15">
            <a:extLst>
              <a:ext uri="{FF2B5EF4-FFF2-40B4-BE49-F238E27FC236}">
                <a16:creationId xmlns:a16="http://schemas.microsoft.com/office/drawing/2014/main" id="{5F4D763F-1610-4F37-AE09-FDE398862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505" y="5220549"/>
            <a:ext cx="326914" cy="489651"/>
          </a:xfrm>
          <a:prstGeom prst="rect">
            <a:avLst/>
          </a:prstGeom>
          <a:solidFill>
            <a:srgbClr val="E6E6E6"/>
          </a:solidFill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633"/>
          </a:p>
        </p:txBody>
      </p:sp>
      <p:sp>
        <p:nvSpPr>
          <p:cNvPr id="61457" name="Line 16">
            <a:extLst>
              <a:ext uri="{FF2B5EF4-FFF2-40B4-BE49-F238E27FC236}">
                <a16:creationId xmlns:a16="http://schemas.microsoft.com/office/drawing/2014/main" id="{77581D89-D7A7-45BC-8F42-8B1A987691DA}"/>
              </a:ext>
            </a:extLst>
          </p:cNvPr>
          <p:cNvSpPr>
            <a:spLocks noChangeShapeType="1"/>
          </p:cNvSpPr>
          <p:nvPr/>
        </p:nvSpPr>
        <p:spPr bwMode="auto">
          <a:xfrm>
            <a:off x="8250467" y="4729457"/>
            <a:ext cx="489651" cy="489651"/>
          </a:xfrm>
          <a:prstGeom prst="line">
            <a:avLst/>
          </a:prstGeom>
          <a:noFill/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633"/>
          </a:p>
        </p:txBody>
      </p:sp>
      <p:sp>
        <p:nvSpPr>
          <p:cNvPr id="24593" name="Text Box 17">
            <a:extLst>
              <a:ext uri="{FF2B5EF4-FFF2-40B4-BE49-F238E27FC236}">
                <a16:creationId xmlns:a16="http://schemas.microsoft.com/office/drawing/2014/main" id="{C077FA47-F131-41CB-BA06-1AA48E982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9754" y="1627371"/>
            <a:ext cx="1479035" cy="351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46" tIns="45395" rIns="81646" bIns="40823" anchor="ctr"/>
          <a:lstStyle>
            <a:lvl1pPr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</a:rPr>
              <a:t>root_folder</a:t>
            </a:r>
          </a:p>
        </p:txBody>
      </p:sp>
      <p:sp>
        <p:nvSpPr>
          <p:cNvPr id="24594" name="Text Box 18">
            <a:extLst>
              <a:ext uri="{FF2B5EF4-FFF2-40B4-BE49-F238E27FC236}">
                <a16:creationId xmlns:a16="http://schemas.microsoft.com/office/drawing/2014/main" id="{DF38D20B-1816-458D-9271-F9BFA4D93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9748" y="2582192"/>
            <a:ext cx="449327" cy="351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46" tIns="45395" rIns="81646" bIns="40823" anchor="ctr"/>
          <a:lstStyle/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  <a:cs typeface="Arial Unicode MS" charset="0"/>
              </a:rPr>
              <a:t>a1</a:t>
            </a:r>
          </a:p>
        </p:txBody>
      </p:sp>
      <p:sp>
        <p:nvSpPr>
          <p:cNvPr id="24595" name="Text Box 19">
            <a:extLst>
              <a:ext uri="{FF2B5EF4-FFF2-40B4-BE49-F238E27FC236}">
                <a16:creationId xmlns:a16="http://schemas.microsoft.com/office/drawing/2014/main" id="{26E428DE-3F72-4C18-A5F1-5CD68B485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7368" y="3398757"/>
            <a:ext cx="449327" cy="351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46" tIns="45395" rIns="81646" bIns="40823" anchor="ctr"/>
          <a:lstStyle/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  <a:cs typeface="Arial Unicode MS" charset="0"/>
              </a:rPr>
              <a:t>a2</a:t>
            </a:r>
          </a:p>
        </p:txBody>
      </p:sp>
      <p:sp>
        <p:nvSpPr>
          <p:cNvPr id="24596" name="Text Box 20">
            <a:extLst>
              <a:ext uri="{FF2B5EF4-FFF2-40B4-BE49-F238E27FC236}">
                <a16:creationId xmlns:a16="http://schemas.microsoft.com/office/drawing/2014/main" id="{01AA0E42-2C21-4392-BE0C-18541801B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3547" y="4378060"/>
            <a:ext cx="449327" cy="351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46" tIns="45395" rIns="81646" bIns="40823" anchor="ctr"/>
          <a:lstStyle/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  <a:cs typeface="Arial Unicode MS" charset="0"/>
              </a:rPr>
              <a:t>a3</a:t>
            </a:r>
          </a:p>
        </p:txBody>
      </p:sp>
      <p:sp>
        <p:nvSpPr>
          <p:cNvPr id="24597" name="Text Box 21">
            <a:extLst>
              <a:ext uri="{FF2B5EF4-FFF2-40B4-BE49-F238E27FC236}">
                <a16:creationId xmlns:a16="http://schemas.microsoft.com/office/drawing/2014/main" id="{ACEF95D8-38F1-4802-A271-8ECCFA7F5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8392" y="5289676"/>
            <a:ext cx="894334" cy="351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46" tIns="45395" rIns="81646" bIns="40823" anchor="ctr"/>
          <a:lstStyle>
            <a:lvl1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</a:rPr>
              <a:t>A.java</a:t>
            </a:r>
          </a:p>
        </p:txBody>
      </p:sp>
      <p:sp>
        <p:nvSpPr>
          <p:cNvPr id="61463" name="Rectangle 22">
            <a:extLst>
              <a:ext uri="{FF2B5EF4-FFF2-40B4-BE49-F238E27FC236}">
                <a16:creationId xmlns:a16="http://schemas.microsoft.com/office/drawing/2014/main" id="{881A098F-BD5E-48CE-BFB3-6C1C8F8A7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9427" y="4239806"/>
            <a:ext cx="326914" cy="489651"/>
          </a:xfrm>
          <a:prstGeom prst="rect">
            <a:avLst/>
          </a:prstGeom>
          <a:solidFill>
            <a:srgbClr val="E6E6E6"/>
          </a:solidFill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633"/>
          </a:p>
        </p:txBody>
      </p:sp>
      <p:sp>
        <p:nvSpPr>
          <p:cNvPr id="24599" name="Text Box 23">
            <a:extLst>
              <a:ext uri="{FF2B5EF4-FFF2-40B4-BE49-F238E27FC236}">
                <a16:creationId xmlns:a16="http://schemas.microsoft.com/office/drawing/2014/main" id="{D84DF8D7-EBE1-438A-967B-89145D17C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808" y="4280130"/>
            <a:ext cx="894333" cy="351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46" tIns="45395" rIns="81646" bIns="40823" anchor="ctr"/>
          <a:lstStyle>
            <a:lvl1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</a:rPr>
              <a:t>B.java</a:t>
            </a:r>
          </a:p>
        </p:txBody>
      </p:sp>
      <p:sp>
        <p:nvSpPr>
          <p:cNvPr id="61465" name="Line 24">
            <a:extLst>
              <a:ext uri="{FF2B5EF4-FFF2-40B4-BE49-F238E27FC236}">
                <a16:creationId xmlns:a16="http://schemas.microsoft.com/office/drawing/2014/main" id="{42535962-1793-4A4B-AD1F-82210FB4E9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97252" y="2933589"/>
            <a:ext cx="427725" cy="489651"/>
          </a:xfrm>
          <a:prstGeom prst="line">
            <a:avLst/>
          </a:prstGeom>
          <a:noFill/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633"/>
          </a:p>
        </p:txBody>
      </p:sp>
      <p:sp>
        <p:nvSpPr>
          <p:cNvPr id="61466" name="Line 29">
            <a:extLst>
              <a:ext uri="{FF2B5EF4-FFF2-40B4-BE49-F238E27FC236}">
                <a16:creationId xmlns:a16="http://schemas.microsoft.com/office/drawing/2014/main" id="{F4A08DA9-1A2F-4B64-95A0-FCE4384BAD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15872" y="730158"/>
            <a:ext cx="3104966" cy="1440"/>
          </a:xfrm>
          <a:prstGeom prst="line">
            <a:avLst/>
          </a:prstGeom>
          <a:noFill/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633"/>
          </a:p>
        </p:txBody>
      </p:sp>
      <p:sp>
        <p:nvSpPr>
          <p:cNvPr id="61467" name="Line 30">
            <a:extLst>
              <a:ext uri="{FF2B5EF4-FFF2-40B4-BE49-F238E27FC236}">
                <a16:creationId xmlns:a16="http://schemas.microsoft.com/office/drawing/2014/main" id="{251B2D1D-DB42-441E-B9A6-49BDC377B2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0111" y="730157"/>
            <a:ext cx="1440" cy="979303"/>
          </a:xfrm>
          <a:prstGeom prst="line">
            <a:avLst/>
          </a:prstGeom>
          <a:noFill/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633"/>
          </a:p>
        </p:txBody>
      </p:sp>
      <p:sp>
        <p:nvSpPr>
          <p:cNvPr id="24607" name="Text Box 31">
            <a:extLst>
              <a:ext uri="{FF2B5EF4-FFF2-40B4-BE49-F238E27FC236}">
                <a16:creationId xmlns:a16="http://schemas.microsoft.com/office/drawing/2014/main" id="{BE936F00-0A82-4DFB-95FB-D6D79B295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8995" y="836729"/>
            <a:ext cx="2030613" cy="351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46" tIns="45395" rIns="81646" bIns="40823" anchor="ctr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</a:rPr>
              <a:t>package  b1.b2;</a:t>
            </a:r>
          </a:p>
        </p:txBody>
      </p:sp>
      <p:sp>
        <p:nvSpPr>
          <p:cNvPr id="61469" name="AutoShape 32">
            <a:extLst>
              <a:ext uri="{FF2B5EF4-FFF2-40B4-BE49-F238E27FC236}">
                <a16:creationId xmlns:a16="http://schemas.microsoft.com/office/drawing/2014/main" id="{78CC9AF5-A4D2-4AF7-BDAD-BDDB3E3EA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3218" y="3423240"/>
            <a:ext cx="816565" cy="326914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633"/>
          </a:p>
        </p:txBody>
      </p:sp>
      <p:sp>
        <p:nvSpPr>
          <p:cNvPr id="61470" name="Rectangle 33">
            <a:extLst>
              <a:ext uri="{FF2B5EF4-FFF2-40B4-BE49-F238E27FC236}">
                <a16:creationId xmlns:a16="http://schemas.microsoft.com/office/drawing/2014/main" id="{985E4322-CE82-43C7-87A9-F945C756F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869" y="3325310"/>
            <a:ext cx="240505" cy="83529"/>
          </a:xfrm>
          <a:prstGeom prst="rect">
            <a:avLst/>
          </a:prstGeom>
          <a:solidFill>
            <a:srgbClr val="FFFF99"/>
          </a:solidFill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633"/>
          </a:p>
        </p:txBody>
      </p:sp>
      <p:sp>
        <p:nvSpPr>
          <p:cNvPr id="24610" name="Text Box 34">
            <a:extLst>
              <a:ext uri="{FF2B5EF4-FFF2-40B4-BE49-F238E27FC236}">
                <a16:creationId xmlns:a16="http://schemas.microsoft.com/office/drawing/2014/main" id="{9A55CC74-8E4C-4E9F-83AD-4ED52582D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3137" y="2582192"/>
            <a:ext cx="453648" cy="351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46" tIns="45395" rIns="81646" bIns="40823" anchor="ctr"/>
          <a:lstStyle/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  <a:cs typeface="Arial Unicode MS" charset="0"/>
              </a:rPr>
              <a:t>b1</a:t>
            </a:r>
          </a:p>
        </p:txBody>
      </p:sp>
      <p:sp>
        <p:nvSpPr>
          <p:cNvPr id="24611" name="Text Box 35">
            <a:extLst>
              <a:ext uri="{FF2B5EF4-FFF2-40B4-BE49-F238E27FC236}">
                <a16:creationId xmlns:a16="http://schemas.microsoft.com/office/drawing/2014/main" id="{49FD9869-7B4B-4533-84D1-768B43EC3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6925" y="216023"/>
            <a:ext cx="894334" cy="351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46" tIns="45395" rIns="81646" bIns="40823" anchor="ctr"/>
          <a:lstStyle>
            <a:lvl1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</a:rPr>
              <a:t>B.java</a:t>
            </a:r>
          </a:p>
        </p:txBody>
      </p:sp>
      <p:sp>
        <p:nvSpPr>
          <p:cNvPr id="61473" name="Line 36">
            <a:extLst>
              <a:ext uri="{FF2B5EF4-FFF2-40B4-BE49-F238E27FC236}">
                <a16:creationId xmlns:a16="http://schemas.microsoft.com/office/drawing/2014/main" id="{FC96C5F2-E470-4FB4-8EFC-305E4D1CC3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847" y="3750154"/>
            <a:ext cx="427725" cy="489651"/>
          </a:xfrm>
          <a:prstGeom prst="line">
            <a:avLst/>
          </a:prstGeom>
          <a:noFill/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633"/>
          </a:p>
        </p:txBody>
      </p:sp>
      <p:sp>
        <p:nvSpPr>
          <p:cNvPr id="24613" name="Text Box 37">
            <a:extLst>
              <a:ext uri="{FF2B5EF4-FFF2-40B4-BE49-F238E27FC236}">
                <a16:creationId xmlns:a16="http://schemas.microsoft.com/office/drawing/2014/main" id="{BF32E598-A0DD-4BE1-9B33-047319AAD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4926" y="3398757"/>
            <a:ext cx="453647" cy="351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46" tIns="45395" rIns="81646" bIns="40823" anchor="ctr"/>
          <a:lstStyle/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  <a:cs typeface="Arial Unicode MS" charset="0"/>
              </a:rPr>
              <a:t>b2</a:t>
            </a:r>
          </a:p>
        </p:txBody>
      </p:sp>
      <p:sp>
        <p:nvSpPr>
          <p:cNvPr id="61475" name="Line 25">
            <a:extLst>
              <a:ext uri="{FF2B5EF4-FFF2-40B4-BE49-F238E27FC236}">
                <a16:creationId xmlns:a16="http://schemas.microsoft.com/office/drawing/2014/main" id="{5F130E99-3EDF-4F5A-A690-79F3BD22C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4569" y="637988"/>
            <a:ext cx="1440" cy="979303"/>
          </a:xfrm>
          <a:prstGeom prst="line">
            <a:avLst/>
          </a:prstGeom>
          <a:noFill/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633"/>
          </a:p>
        </p:txBody>
      </p:sp>
      <p:sp>
        <p:nvSpPr>
          <p:cNvPr id="61476" name="Line 26">
            <a:extLst>
              <a:ext uri="{FF2B5EF4-FFF2-40B4-BE49-F238E27FC236}">
                <a16:creationId xmlns:a16="http://schemas.microsoft.com/office/drawing/2014/main" id="{DD2C9E31-2EB2-4044-A927-F518DC79AFB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93129" y="639427"/>
            <a:ext cx="2827017" cy="12962"/>
          </a:xfrm>
          <a:prstGeom prst="line">
            <a:avLst/>
          </a:prstGeom>
          <a:noFill/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633"/>
          </a:p>
        </p:txBody>
      </p:sp>
      <p:sp>
        <p:nvSpPr>
          <p:cNvPr id="41" name="Text Box 27">
            <a:extLst>
              <a:ext uri="{FF2B5EF4-FFF2-40B4-BE49-F238E27FC236}">
                <a16:creationId xmlns:a16="http://schemas.microsoft.com/office/drawing/2014/main" id="{2947A114-F343-409D-AC3D-B9635D0D4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8360" y="123853"/>
            <a:ext cx="894333" cy="351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46" tIns="45395" rIns="81646" bIns="40823" anchor="ctr"/>
          <a:lstStyle>
            <a:lvl1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 dirty="0"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</a:rPr>
              <a:t>A.java</a:t>
            </a:r>
          </a:p>
        </p:txBody>
      </p:sp>
      <p:sp>
        <p:nvSpPr>
          <p:cNvPr id="42" name="Text Box 28">
            <a:extLst>
              <a:ext uri="{FF2B5EF4-FFF2-40B4-BE49-F238E27FC236}">
                <a16:creationId xmlns:a16="http://schemas.microsoft.com/office/drawing/2014/main" id="{110859F7-1F4F-497A-A2D5-C26DF4897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2500" y="744559"/>
            <a:ext cx="2386330" cy="351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46" tIns="45395" rIns="81646" bIns="40823" anchor="ctr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</a:rPr>
              <a:t>package  a1.a2.a3;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ext Box 1">
            <a:extLst>
              <a:ext uri="{FF2B5EF4-FFF2-40B4-BE49-F238E27FC236}">
                <a16:creationId xmlns:a16="http://schemas.microsoft.com/office/drawing/2014/main" id="{4415278D-933A-4682-A668-EA46BC3EB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2566" y="661030"/>
            <a:ext cx="894334" cy="351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46" tIns="45395" rIns="81646" bIns="40823" anchor="ctr"/>
          <a:lstStyle>
            <a:lvl1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</a:rPr>
              <a:t>A.java</a:t>
            </a:r>
          </a:p>
        </p:txBody>
      </p:sp>
      <p:sp>
        <p:nvSpPr>
          <p:cNvPr id="25602" name="Text Box 2">
            <a:extLst>
              <a:ext uri="{FF2B5EF4-FFF2-40B4-BE49-F238E27FC236}">
                <a16:creationId xmlns:a16="http://schemas.microsoft.com/office/drawing/2014/main" id="{F3663AAA-1B8F-4F70-809D-D5B9842C6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6706" y="1281735"/>
            <a:ext cx="2864461" cy="1430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46" tIns="45395" rIns="81646" bIns="40823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 dirty="0"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</a:rPr>
              <a:t>package  a1.a2.a3;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de-DE" sz="1814" b="1" dirty="0">
              <a:effectLst>
                <a:outerShdw blurRad="38100" dist="38100" dir="2700000" algn="tl">
                  <a:srgbClr val="C0C0C0"/>
                </a:outerShdw>
              </a:effectLst>
              <a:latin typeface="Bookman Old Style" pitchFamily="16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 dirty="0"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</a:rPr>
              <a:t>public class  A {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 dirty="0"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</a:rPr>
              <a:t>	public int  b  =  90;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 dirty="0"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</a:rPr>
              <a:t>}</a:t>
            </a:r>
          </a:p>
        </p:txBody>
      </p:sp>
      <p:sp>
        <p:nvSpPr>
          <p:cNvPr id="25603" name="Text Box 3">
            <a:extLst>
              <a:ext uri="{FF2B5EF4-FFF2-40B4-BE49-F238E27FC236}">
                <a16:creationId xmlns:a16="http://schemas.microsoft.com/office/drawing/2014/main" id="{9F8C4EDD-99D0-4981-A29D-0CDE35EB0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9401" y="1281735"/>
            <a:ext cx="3850964" cy="2779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46" tIns="45395" rIns="81646" bIns="40823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</a:rPr>
              <a:t>package  b1.b2;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de-DE" sz="1814" b="1">
              <a:effectLst>
                <a:outerShdw blurRad="38100" dist="38100" dir="2700000" algn="tl">
                  <a:srgbClr val="C0C0C0"/>
                </a:outerShdw>
              </a:effectLst>
              <a:latin typeface="Bookman Old Style" pitchFamily="16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</a:rPr>
              <a:t>import  a1.a2.a3.A;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de-DE" sz="1814" b="1">
              <a:effectLst>
                <a:outerShdw blurRad="38100" dist="38100" dir="2700000" algn="tl">
                  <a:srgbClr val="C0C0C0"/>
                </a:outerShdw>
              </a:effectLst>
              <a:latin typeface="Bookman Old Style" pitchFamily="16" charset="0"/>
            </a:endParaRP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</a:rPr>
              <a:t>class  B {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</a:rPr>
              <a:t>	public static void main(){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</a:rPr>
              <a:t>		A  x  =  new  A();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</a:rPr>
              <a:t>		System.out.println(x.b);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</a:rPr>
              <a:t>	}</a:t>
            </a:r>
          </a:p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</a:rPr>
              <a:t>}</a:t>
            </a:r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0EA464E8-8611-4696-9069-87E2F2738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331" y="661030"/>
            <a:ext cx="894333" cy="351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8360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46" tIns="45395" rIns="81646" bIns="40823" anchor="ctr"/>
          <a:lstStyle>
            <a:lvl1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 eaLnBrk="1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de-DE" sz="1814" b="1"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6" charset="0"/>
              </a:rPr>
              <a:t>B.java</a:t>
            </a:r>
          </a:p>
        </p:txBody>
      </p:sp>
      <p:sp>
        <p:nvSpPr>
          <p:cNvPr id="63494" name="Line 5">
            <a:extLst>
              <a:ext uri="{FF2B5EF4-FFF2-40B4-BE49-F238E27FC236}">
                <a16:creationId xmlns:a16="http://schemas.microsoft.com/office/drawing/2014/main" id="{379F2DA9-669D-4378-AB10-A64C4901CD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7336" y="1176604"/>
            <a:ext cx="3695428" cy="0"/>
          </a:xfrm>
          <a:prstGeom prst="line">
            <a:avLst/>
          </a:prstGeom>
          <a:noFill/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633"/>
          </a:p>
        </p:txBody>
      </p:sp>
      <p:sp>
        <p:nvSpPr>
          <p:cNvPr id="63495" name="Line 6">
            <a:extLst>
              <a:ext uri="{FF2B5EF4-FFF2-40B4-BE49-F238E27FC236}">
                <a16:creationId xmlns:a16="http://schemas.microsoft.com/office/drawing/2014/main" id="{66D7663C-52AC-43A1-AB4F-9E3827237A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6276" y="1175164"/>
            <a:ext cx="3104966" cy="1441"/>
          </a:xfrm>
          <a:prstGeom prst="line">
            <a:avLst/>
          </a:prstGeom>
          <a:noFill/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633"/>
          </a:p>
        </p:txBody>
      </p:sp>
      <p:sp>
        <p:nvSpPr>
          <p:cNvPr id="63496" name="Line 7">
            <a:extLst>
              <a:ext uri="{FF2B5EF4-FFF2-40B4-BE49-F238E27FC236}">
                <a16:creationId xmlns:a16="http://schemas.microsoft.com/office/drawing/2014/main" id="{6886ABAA-333A-48E8-AB60-DB1D01946B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66276" y="1175164"/>
            <a:ext cx="1441" cy="3467884"/>
          </a:xfrm>
          <a:prstGeom prst="line">
            <a:avLst/>
          </a:prstGeom>
          <a:noFill/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633"/>
          </a:p>
        </p:txBody>
      </p:sp>
      <p:sp>
        <p:nvSpPr>
          <p:cNvPr id="63497" name="Line 8">
            <a:extLst>
              <a:ext uri="{FF2B5EF4-FFF2-40B4-BE49-F238E27FC236}">
                <a16:creationId xmlns:a16="http://schemas.microsoft.com/office/drawing/2014/main" id="{5EB02468-4249-4344-8007-E6104C9D261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8775" y="1175164"/>
            <a:ext cx="1441" cy="2638357"/>
          </a:xfrm>
          <a:prstGeom prst="line">
            <a:avLst/>
          </a:prstGeom>
          <a:noFill/>
          <a:ln w="1836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633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</Words>
  <Application>Microsoft Office PowerPoint</Application>
  <PresentationFormat>Widescreen</PresentationFormat>
  <Paragraphs>79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Bookman Old Style</vt:lpstr>
      <vt:lpstr>Calibri</vt:lpstr>
      <vt:lpstr>Calibri Light</vt:lpstr>
      <vt:lpstr>Times New Roman</vt:lpstr>
      <vt:lpstr>Office Theme</vt:lpstr>
      <vt:lpstr>Package &amp; Import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Package &amp; Import</dc:title>
  <dc:creator>Anoop Ingole</dc:creator>
  <cp:lastModifiedBy>Anoop Ingole</cp:lastModifiedBy>
  <cp:revision>1</cp:revision>
  <dcterms:created xsi:type="dcterms:W3CDTF">2019-01-30T07:09:22Z</dcterms:created>
  <dcterms:modified xsi:type="dcterms:W3CDTF">2019-01-30T07:09:29Z</dcterms:modified>
</cp:coreProperties>
</file>